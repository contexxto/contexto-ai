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Tono calma y confianza. La marca + la promesa, sin ruido.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como injusticia, no como tema técnico. La balanza: toda la luz de un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es real y no trivial. El hueco como ausencia de luz. Quien lo resuelva tiene foso.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diferenciador en una frase que se recuerda.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la categoría en sus términos, no en los del portal. IA da contexto, humano cierra.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defendible es el compounding del aprendizaje, no la interfaz.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Reposiciona a los incumbentes sin nombrarlos con desdén. La verdad del lugar es el sustrato.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producto real — que exista, no que se prometa. Cápsulas, no informes.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porqué-ahora honesto, sin cifras infladas.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Convertir la ética en ventaja, no en disclaimer.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Pro-corredor explícito; desactiva el miedo al reemplazo por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convicción, no con CTA. El manifiesto como sello.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 · VISIÓN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54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37033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honesta para la decisión más grande de tu vida.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Quito · Ecuador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que más arriesga es el que menos sabe.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30632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vende tiene veinte herramientas. El que compra, una pestaña de buscador y su intuición.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4526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IA fue al lado de la oferta.</a:t>
            </a:r>
            <a:endParaRPr lang="en-US" sz="1800" dirty="0"/>
          </a:p>
        </p:txBody>
      </p:sp>
      <p:pic>
        <p:nvPicPr>
          <p:cNvPr id="6" name="Image 0" descr="C:\Users\DETPC\AppData\Local\Temp\claude\C--Users-DETPC-Desktop-WHABER-2--Whaber-Travel-Ops-Brain-Whaber-Claude-Code\1f17e848-1456-4676-902e-ac7f3ff87679\scratchpad\deck\art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486400" cy="3086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11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424160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 QUÉ NADIE LO RESOLVIÓ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hueco no es un descuido. Es lo más difícil de resolver.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30632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lado comprador es un cementerio: la economía mató a los que lo intentaron a escala.</a:t>
            </a:r>
            <a:endParaRPr lang="en-US" sz="165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describen; nadie verifica.</a:t>
            </a:r>
            <a:endParaRPr lang="en-US" sz="165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LATAM, además, el dato público no existe.</a:t>
            </a:r>
            <a:endParaRPr lang="en-US" sz="1650" dirty="0"/>
          </a:p>
        </p:txBody>
      </p:sp>
      <p:pic>
        <p:nvPicPr>
          <p:cNvPr id="5" name="Image 0" descr="C:\Users\DETPC\AppData\Local\Temp\claude\C--Users-DETPC-Desktop-WHABER-2--Whaber-Travel-Ops-Brain-Whaber-Claude-Code\1f17e848-1456-4676-902e-ac7f3ff87679\scratchpad\deck\art_vo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486400" cy="3086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11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424160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TESIS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Donde otros describen, nosotros verificamos.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324612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«Donde otros dicen ‘confianza nula’, Contexto dice: verificado en el terreno.»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4572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no se copia scrapeando — requiere haber estado en el inmueble.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32520" y="1920240"/>
            <a:ext cx="2834640" cy="2743200"/>
          </a:xfrm>
          <a:prstGeom prst="roundRect">
            <a:avLst>
              <a:gd name="adj" fmla="val 4000"/>
            </a:avLst>
          </a:prstGeom>
          <a:solidFill>
            <a:srgbClr val="1E1D28"/>
          </a:solidFill>
          <a:ln w="12700">
            <a:solidFill>
              <a:srgbClr val="2E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21488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E5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en terreno</a:t>
            </a:r>
            <a:endParaRPr lang="en-US" sz="3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5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Tubería · 2023</a:t>
            </a:r>
            <a:endParaRPr lang="en-US" sz="3000" dirty="0"/>
          </a:p>
          <a:p>
            <a:pPr indent="0" marL="0">
              <a:buNone/>
            </a:pPr>
            <a:r>
              <a:rPr lang="en-US" sz="125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Cédula · sí</a:t>
            </a:r>
            <a:endParaRPr lang="en-US" sz="3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 · con proveniencia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11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QUÉ ES CONTEXTO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es un buscador de inmuebles.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 el sistema vivo de la verdad del lugar.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29718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asesora honesta que razona si vivir, rentar o invertir tiene sentido — sobre dato verificado — y te conecta con un humano que responde.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16151E"/>
          </a:solidFill>
          <a:ln w="12700">
            <a:solidFill>
              <a:srgbClr val="2E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0292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intención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502920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34840" y="489204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16151E"/>
          </a:solidFill>
          <a:ln w="12700">
            <a:solidFill>
              <a:srgbClr val="2DB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50292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del lugar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502920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0" y="489204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16151E"/>
          </a:solidFill>
          <a:ln w="12700">
            <a:solidFill>
              <a:srgbClr val="2E2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50292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Corredor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11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0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FOSO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es una app. Es un activo que compone solo.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2532888"/>
            <a:ext cx="457200" cy="457200"/>
          </a:xfrm>
          <a:prstGeom prst="ellipse">
            <a:avLst/>
          </a:prstGeom>
          <a:solidFill>
            <a:srgbClr val="1E1D28"/>
          </a:solidFill>
          <a:ln w="15875">
            <a:solidFill>
              <a:srgbClr val="2DB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2468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 Vivo verificado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por coordenada, con fecha y proveniencia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3493008"/>
            <a:ext cx="457200" cy="457200"/>
          </a:xfrm>
          <a:prstGeom prst="ellipse">
            <a:avLst/>
          </a:prstGeom>
          <a:solidFill>
            <a:srgbClr val="1E1D28"/>
          </a:solidFill>
          <a:ln w="15875">
            <a:solidFill>
              <a:srgbClr val="2DBD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34290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de inversión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yield, margen y riesgo sobre dato real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4453128"/>
            <a:ext cx="457200" cy="457200"/>
          </a:xfrm>
          <a:prstGeom prst="ellipse">
            <a:avLst/>
          </a:prstGeom>
          <a:solidFill>
            <a:srgbClr val="1E1D28"/>
          </a:solidFill>
          <a:ln w="15875">
            <a:solidFill>
              <a:srgbClr val="2DB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43891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/ honestidad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el dato verificado de la estimación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" y="5532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motor: el loop del corredor — más inteligente con cada cliente que lo toca.</a:t>
            </a:r>
            <a:endParaRPr lang="en-US" sz="1450" dirty="0"/>
          </a:p>
        </p:txBody>
      </p:sp>
      <p:pic>
        <p:nvPicPr>
          <p:cNvPr id="14" name="Image 0" descr="C:\Users\DETPC\AppData\Local\Temp\claude\C--Users-DETPC-Desktop-WHABER-2--Whaber-Travel-Ops-Brain-Whaber-Claude-Code\1f17e848-1456-4676-902e-ac7f3ff87679\scratchpad\deck\art_r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83080"/>
            <a:ext cx="3749040" cy="3749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11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424160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CAMBIO DE JUEGO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se compite por posición. Se compite por ser la verdad que la IA recomienda.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16151E"/>
          </a:solidFill>
          <a:ln w="12700">
            <a:solidFill>
              <a:srgbClr val="2E2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375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spc="200" kern="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· Ranking</a:t>
            </a:r>
            <a:endParaRPr lang="en-US" sz="1500" dirty="0"/>
          </a:p>
          <a:p>
            <a:pPr indent="0" mar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posición en el portal, pujar por estar arriba de la lista.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30632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1E1D28"/>
          </a:solidFill>
          <a:ln w="12700">
            <a:solidFill>
              <a:srgbClr val="2DB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33375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· Recomendación</a:t>
            </a:r>
            <a:endParaRPr lang="en-US" sz="1500" dirty="0"/>
          </a:p>
          <a:p>
            <a:pPr indent="0" mar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del lugar es el sustrato del emparejamiento de intención con una vida.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11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OFICIO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Una conversación honesta, no un volcado de datos.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88036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Cápsulas que llevan a la siguiente pregunta — tú conduces.</a:t>
            </a:r>
            <a:endParaRPr lang="en-US" sz="165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ficha verificada que revela lo que el anuncio esconde.</a:t>
            </a:r>
            <a:endParaRPr lang="en-US" sz="165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handoff al corredor en el pico de intención.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35240" y="160020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1E1D28"/>
          </a:solidFill>
          <a:ln w="12700">
            <a:solidFill>
              <a:srgbClr val="2E2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Ficha verificada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Tubería renovada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149840" y="2377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5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✓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0" y="2944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Cédula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149840" y="2944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5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✓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0" y="35112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real 7pm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149840" y="35112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63840" y="4078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 al Metro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149840" y="40782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5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 ✓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863840" y="4645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Impermeabilización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149840" y="46451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5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 ✓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11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0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 QUÉ AQUÍ, POR QUÉ AHORA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escasez que frena a los gigantes es la que nos protege.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6151E"/>
          </a:solidFill>
          <a:ln w="12700">
            <a:solidFill>
              <a:srgbClr val="2DB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999232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público pobre</a:t>
            </a:r>
            <a:endParaRPr lang="en-US" sz="1700" dirty="0"/>
          </a:p>
          <a:p>
            <a:pPr indent="0" marL="0">
              <a:lnSpc>
                <a:spcPct val="115000"/>
              </a:lnSpc>
              <a:spcBef>
                <a:spcPts val="800"/>
              </a:spcBef>
              <a:buNone/>
            </a:pPr>
            <a:r>
              <a:rPr lang="en-US" sz="145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verificado es el único moat.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43400" y="27432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6151E"/>
          </a:solidFill>
          <a:ln w="12700">
            <a:solidFill>
              <a:srgbClr val="2E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9432" y="2999232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hiperlocal</a:t>
            </a:r>
            <a:endParaRPr lang="en-US" sz="1700" dirty="0"/>
          </a:p>
          <a:p>
            <a:pPr indent="0" marL="0">
              <a:lnSpc>
                <a:spcPct val="115000"/>
              </a:lnSpc>
              <a:spcBef>
                <a:spcPts val="800"/>
              </a:spcBef>
              <a:buNone/>
            </a:pPr>
            <a:r>
              <a:rPr lang="en-US" sz="145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 genéricos fallan donde importa.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046720" y="27432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6151E"/>
          </a:solidFill>
          <a:ln w="12700">
            <a:solidFill>
              <a:srgbClr val="2E2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02752" y="2999232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AI-nativo</a:t>
            </a:r>
            <a:endParaRPr lang="en-US" sz="1700" dirty="0"/>
          </a:p>
          <a:p>
            <a:pPr indent="0" marL="0">
              <a:lnSpc>
                <a:spcPct val="115000"/>
              </a:lnSpc>
              <a:spcBef>
                <a:spcPts val="800"/>
              </a:spcBef>
              <a:buNone/>
            </a:pPr>
            <a:r>
              <a:rPr lang="en-US" sz="145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iteramos en horas lo que a otros les toma meses.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5440680"/>
            <a:ext cx="3383280" cy="502920"/>
          </a:xfrm>
          <a:prstGeom prst="roundRect">
            <a:avLst>
              <a:gd name="adj" fmla="val 49091"/>
            </a:avLst>
          </a:prstGeom>
          <a:solidFill>
            <a:srgbClr val="1E1D28"/>
          </a:solidFill>
          <a:ln w="12700">
            <a:solidFill>
              <a:srgbClr val="2DB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440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en producción · Quito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11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24160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CIMIENTO (Y LA DEFENSA)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Distinguimos el dato verificado de la estimación. En voz alta.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2926080"/>
            <a:ext cx="7040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Perfilamos lugares e inmuebles — nunca personas.</a:t>
            </a:r>
            <a:endParaRPr lang="en-US" sz="165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Housing por construcción, no por obligación.</a:t>
            </a:r>
            <a:endParaRPr lang="en-US" sz="165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honestidad dejó de ser ética: es defensa legal y comercial frente al ‘AI slop’.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1E1D28"/>
          </a:solidFill>
          <a:ln w="12700">
            <a:solidFill>
              <a:srgbClr val="2E2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5146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Verificado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5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medido, con proveniencia</a:t>
            </a:r>
            <a:endParaRPr lang="en-US" sz="1800" dirty="0"/>
          </a:p>
          <a:p>
            <a:pPr indent="0" marL="0"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Estimación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5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rotulada como 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11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24160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HANDOFF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IA da el contexto. El humano cierra.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reemplazamos al corredor: le entregamos un comprador que llega informado y tranquilo. Vender es un deporte de contacto humano.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1E1D28"/>
          </a:solidFill>
          <a:ln w="12700">
            <a:solidFill>
              <a:srgbClr val="2DB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617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el contexto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63440" y="4617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D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0" y="448056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1E1D28"/>
          </a:solidFill>
          <a:ln w="12700">
            <a:solidFill>
              <a:srgbClr val="E5C0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4617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11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424160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POSTURA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vinimos a listar casas.</a:t>
            </a:r>
            <a:endParaRPr lang="en-US" sz="3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Vinimos a cambiar de qué lado está la verdad.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42976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compra más grande de tu vida, ¿de qué lado ha estado la información?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CE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pPr indent="0" marL="0">
              <a:buNone/>
            </a:pPr>
            <a:r>
              <a:rPr lang="en-US" sz="1500" b="1" dirty="0">
                <a:solidFill>
                  <a:srgbClr val="2DBD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2026-07-23T22:45:52Z</dcterms:created>
  <dcterms:modified xsi:type="dcterms:W3CDTF">2026-07-23T22:45:52Z</dcterms:modified>
</cp:coreProperties>
</file>